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57" r:id="rId4"/>
    <p:sldId id="270" r:id="rId5"/>
    <p:sldId id="258" r:id="rId6"/>
    <p:sldId id="259" r:id="rId7"/>
    <p:sldId id="260" r:id="rId8"/>
    <p:sldId id="261" r:id="rId9"/>
    <p:sldId id="267" r:id="rId10"/>
    <p:sldId id="268" r:id="rId11"/>
    <p:sldId id="269" r:id="rId12"/>
    <p:sldId id="271" r:id="rId13"/>
    <p:sldId id="272" r:id="rId14"/>
    <p:sldId id="262" r:id="rId15"/>
    <p:sldId id="263" r:id="rId16"/>
    <p:sldId id="264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 dirty="0" err="1">
                <a:solidFill>
                  <a:srgbClr val="000000"/>
                </a:solidFill>
                <a:latin typeface="Arial"/>
              </a:rPr>
              <a:t>Reward</a:t>
            </a:r>
            <a:r>
              <a:rPr lang="fr-FR" sz="1800" b="0" i="0" u="none" strike="noStrike" dirty="0">
                <a:solidFill>
                  <a:srgbClr val="000000"/>
                </a:solidFill>
                <a:latin typeface="Arial"/>
              </a:rPr>
              <a:t> moyen par épisode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DQN Flatten</c:v>
                </c:pt>
              </c:strCache>
            </c:strRef>
          </c:tx>
          <c:spPr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</c:v>
                </c:pt>
                <c:pt idx="1">
                  <c:v>0.25</c:v>
                </c:pt>
                <c:pt idx="2">
                  <c:v>0.45</c:v>
                </c:pt>
                <c:pt idx="3">
                  <c:v>0.62</c:v>
                </c:pt>
                <c:pt idx="4">
                  <c:v>0.75</c:v>
                </c:pt>
                <c:pt idx="5">
                  <c:v>0.84</c:v>
                </c:pt>
                <c:pt idx="6">
                  <c:v>0.85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AB5-413B-92AB-10901FA5C0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DQN CNN</c:v>
                </c:pt>
              </c:strCache>
            </c:strRef>
          </c:tx>
          <c:spPr>
            <a:ln w="3810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</c:v>
                </c:pt>
                <c:pt idx="1">
                  <c:v>0.42</c:v>
                </c:pt>
                <c:pt idx="2">
                  <c:v>0.75</c:v>
                </c:pt>
                <c:pt idx="3">
                  <c:v>0.92</c:v>
                </c:pt>
                <c:pt idx="4">
                  <c:v>0.95</c:v>
                </c:pt>
                <c:pt idx="5">
                  <c:v>0.95</c:v>
                </c:pt>
                <c:pt idx="6">
                  <c:v>0.95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AB5-413B-92AB-10901FA5C0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49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95A5A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49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00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0DBC-955E-3D71-841E-A7510461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D800F-BFD9-B5A4-3764-3AA9A5837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A83F6-BD11-332F-67D8-D65414AD6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8962C-C98C-01F8-DCBF-F32FE55C2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44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1274-1C30-6BE5-731E-8167B8D2B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90E77-B27B-F422-B6B4-9BE46ACA2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86E4A-684B-8F40-D32C-881F8025B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04EC5-9A1A-215B-1EC5-A8BC96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95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34A7-4085-BB18-8309-A0BB8C9B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8CAD9-BC8B-621E-D2C4-3969ACDCF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81428-77D1-6F41-F169-C1389BC76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CD1E1-2528-926E-A4AB-1A6B7CB21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2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03FB-7EFD-6945-1986-63E6E69C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8532F-25C6-87DD-26C8-ADD5D0578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836E4-0E3B-460A-FA02-DF7AB3340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D1A31-C2C1-B8CC-401D-DD42D4211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B06DC-BCA7-B73D-8415-85C02112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7F111-91FF-E20C-3D34-16ABACF11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067AA-322C-0F5A-014F-528C9B72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1C573-0D43-33AF-E72C-FF891328B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8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961C-C954-8FD5-9801-59FD25B3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674FA-C18E-A671-DA63-8C2324DB7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8D4C0-1C97-DCBB-28EE-F489EA3A5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0CD8F-70FD-A708-27FC-C653507E7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06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4250"/>
            <a:ext cx="2743200" cy="457200"/>
          </a:xfrm>
          <a:prstGeom prst="rect">
            <a:avLst/>
          </a:prstGeom>
          <a:solidFill>
            <a:srgbClr val="1B4965">
              <a:alpha val="70000"/>
            </a:srgbClr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0" y="411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PAR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MINIGRID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vs DQN CNN + Callbacks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50923" y="3797709"/>
            <a:ext cx="54864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66020" y="396709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  <a:p>
            <a:pPr algn="ctr"/>
            <a:r>
              <a:rPr lang="en-US" sz="1400" dirty="0" err="1">
                <a:solidFill>
                  <a:srgbClr val="F8F9FA"/>
                </a:solidFill>
                <a:latin typeface="Calibri" pitchFamily="34" charset="0"/>
                <a:cs typeface="Calibri" pitchFamily="34" charset="-120"/>
              </a:rPr>
              <a:t>Présenté</a:t>
            </a:r>
            <a:r>
              <a:rPr lang="en-US" sz="1400" dirty="0">
                <a:solidFill>
                  <a:srgbClr val="F8F9FA"/>
                </a:solidFill>
                <a:latin typeface="Calibri" pitchFamily="34" charset="0"/>
                <a:cs typeface="Calibri" pitchFamily="34" charset="-120"/>
              </a:rPr>
              <a:t> par :</a:t>
            </a:r>
          </a:p>
          <a:p>
            <a:pPr algn="ctr"/>
            <a:r>
              <a:rPr lang="en-US" sz="1400" dirty="0">
                <a:solidFill>
                  <a:srgbClr val="F8F9FA"/>
                </a:solidFill>
                <a:latin typeface="Calibri" pitchFamily="34" charset="0"/>
                <a:cs typeface="Calibri" pitchFamily="34" charset="-120"/>
              </a:rPr>
              <a:t>Cornelia ADANTO</a:t>
            </a:r>
          </a:p>
          <a:p>
            <a:pPr algn="ctr"/>
            <a:r>
              <a:rPr lang="en-US" sz="1400" dirty="0">
                <a:solidFill>
                  <a:srgbClr val="F8F9FA"/>
                </a:solidFill>
                <a:latin typeface="Calibri" pitchFamily="34" charset="0"/>
                <a:cs typeface="Calibri" pitchFamily="34" charset="-120"/>
              </a:rPr>
              <a:t>Oumou SOW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68413" y="3948143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8E5BE41-9A10-E0CB-0D41-7D20A0ECC72D}"/>
              </a:ext>
            </a:extLst>
          </p:cNvPr>
          <p:cNvSpPr txBox="1"/>
          <p:nvPr/>
        </p:nvSpPr>
        <p:spPr>
          <a:xfrm>
            <a:off x="3291204" y="4431664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MIA-26.2 IPSSI MONTPELLIER</a:t>
            </a:r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4112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965"/>
                </a:solidFill>
                <a:latin typeface="Calibri"/>
              </a:defRPr>
            </a:pPr>
            <a:r>
              <a:rPr lang="en-US" dirty="0"/>
              <a:t>SOMMAIRE</a:t>
            </a: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320040" cy="320040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t>Problématique &amp; Objectifs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320040" cy="320040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7530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rPr dirty="0"/>
              <a:t>Environnement MiniGrid-Empty-8x8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86000"/>
            <a:ext cx="320040" cy="320040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70042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rPr dirty="0"/>
              <a:t>Architecture Baseline (Fully Connected)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43200"/>
            <a:ext cx="320040" cy="320040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190076"/>
            <a:ext cx="27220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rPr dirty="0"/>
              <a:t>Architecture (CNN + Callbacks)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00400"/>
            <a:ext cx="320040" cy="3200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1837649"/>
            <a:ext cx="17757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rPr lang="en-US" dirty="0"/>
              <a:t>Structure du </a:t>
            </a:r>
            <a:r>
              <a:rPr lang="en-US" dirty="0" err="1"/>
              <a:t>projet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5029200" y="1429114"/>
            <a:ext cx="320040" cy="320043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1785952"/>
            <a:ext cx="9412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rPr dirty="0" err="1"/>
              <a:t>Résultats</a:t>
            </a:r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5029200" y="2197508"/>
            <a:ext cx="320040" cy="320043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2243152"/>
            <a:ext cx="3200400" cy="2744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t>Analyse de la Convergence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2654708"/>
            <a:ext cx="320040" cy="320043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2700352"/>
            <a:ext cx="3200400" cy="2744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t>Discussion &amp; Limites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3111908"/>
            <a:ext cx="320040" cy="320043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0" y="3157552"/>
            <a:ext cx="3200400" cy="2744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007C5E02-225A-A734-9F84-B3621051348C}"/>
              </a:ext>
            </a:extLst>
          </p:cNvPr>
          <p:cNvSpPr/>
          <p:nvPr/>
        </p:nvSpPr>
        <p:spPr>
          <a:xfrm>
            <a:off x="5029200" y="1803651"/>
            <a:ext cx="320040" cy="320043"/>
          </a:xfrm>
          <a:prstGeom prst="ellipse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D778D145-C45E-F013-BDD8-940CB3FF3853}"/>
              </a:ext>
            </a:extLst>
          </p:cNvPr>
          <p:cNvSpPr txBox="1"/>
          <p:nvPr/>
        </p:nvSpPr>
        <p:spPr>
          <a:xfrm>
            <a:off x="5486400" y="1411421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  <a:latin typeface="Calibri"/>
              </a:defRPr>
            </a:pPr>
            <a:r>
              <a:rPr dirty="0"/>
              <a:t>Callbacks </a:t>
            </a:r>
            <a:r>
              <a:rPr dirty="0" err="1"/>
              <a:t>Professionnels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191670" y="914400"/>
            <a:ext cx="7406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DQN baseline avec architecture fully-connected (Flatten)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 DQN amélioré avec CNN pour exploiter la structure spatiale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callbacks professionnels (TensorBoard, Checkpoint, EarlyStopping)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quantitativement les performances (reward, succès, convergence)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courbe d'apprentissage et la stabilité de l'entraînement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74C30-4953-E645-945B-0402BD158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F98B00-8923-813D-8CD2-6F786C7A333B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E20ADB-DD8C-A9FD-570C-4D652645ACEE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</a:t>
            </a: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3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C3396B3-6742-46AF-6224-E8F2F5B26CEB}"/>
              </a:ext>
            </a:extLst>
          </p:cNvPr>
          <p:cNvSpPr/>
          <p:nvPr/>
        </p:nvSpPr>
        <p:spPr>
          <a:xfrm>
            <a:off x="1191670" y="914400"/>
            <a:ext cx="7406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endParaRPr lang="en-US" sz="1000" dirty="0">
              <a:solidFill>
                <a:srgbClr val="3449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8" name="Image 7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82314595-8381-8FA1-CA93-AC48BE635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354" y="1090246"/>
            <a:ext cx="4614104" cy="37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8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MiniGrid-Empty-8x8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959992"/>
          </a:xfrm>
          <a:prstGeom prst="rect">
            <a:avLst/>
          </a:prstGeom>
          <a:solidFill>
            <a:srgbClr val="F5F7FA"/>
          </a:solidFill>
          <a:ln w="381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8×8 cases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(A) : position initiale aléatoire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(G) : position aléatoire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image 7×7×3 (valeurs 0-10)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3 (Gauche=0, Droite=1, Avancer=2)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 : &gt; 0 si objectif atteint, </a:t>
            </a:r>
            <a:r>
              <a:rPr lang="en-US" sz="1400" dirty="0" err="1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</a:t>
            </a: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</a:t>
            </a:r>
            <a:endParaRPr lang="en-US" sz="1400" dirty="0"/>
          </a:p>
        </p:txBody>
      </p:sp>
      <p:pic>
        <p:nvPicPr>
          <p:cNvPr id="11" name="Image 10" descr="Une image contenant capture d’écran, carré, Rectangle, diagramme&#10;&#10;Le contenu généré par l’IA peut être incorrect.">
            <a:extLst>
              <a:ext uri="{FF2B5EF4-FFF2-40B4-BE49-F238E27FC236}">
                <a16:creationId xmlns:a16="http://schemas.microsoft.com/office/drawing/2014/main" id="{C0EF5C79-3BF7-99BC-CF5A-9EE2E96F7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994787"/>
            <a:ext cx="3590141" cy="3153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Baseline (Fully Connected)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554480" cy="685800"/>
          </a:xfrm>
          <a:prstGeom prst="rect">
            <a:avLst/>
          </a:prstGeom>
          <a:solidFill>
            <a:srgbClr val="F5F7FA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714500"/>
            <a:ext cx="36576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1554480" cy="685800"/>
          </a:xfrm>
          <a:prstGeom prst="rect">
            <a:avLst/>
          </a:prstGeom>
          <a:solidFill>
            <a:srgbClr val="00BCD4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128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714500"/>
            <a:ext cx="36576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554480" cy="685800"/>
          </a:xfrm>
          <a:prstGeom prst="rect">
            <a:avLst/>
          </a:prstGeom>
          <a:solidFill>
            <a:srgbClr val="00BCD4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64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714500"/>
            <a:ext cx="36576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858000" y="1371600"/>
            <a:ext cx="1554480" cy="685800"/>
          </a:xfrm>
          <a:prstGeom prst="rect">
            <a:avLst/>
          </a:prstGeom>
          <a:solidFill>
            <a:srgbClr val="27AE60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58000" y="1371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73152" cy="1554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d'information spatiale : le Flatten(7×7×3) détruit la structure 2D de la grille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lente et instable : difficulté à extraire des patterns visuels pertinents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monitoring : pas de suivi temps réel, pas de sauvegarde automatique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CNN + Callbacks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371600" cy="640080"/>
          </a:xfrm>
          <a:prstGeom prst="rect">
            <a:avLst/>
          </a:prstGeom>
          <a:solidFill>
            <a:srgbClr val="00BCD4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16@3×3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600200"/>
            <a:ext cx="32004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40280" y="1280160"/>
            <a:ext cx="1371600" cy="640080"/>
          </a:xfrm>
          <a:prstGeom prst="rect">
            <a:avLst/>
          </a:prstGeom>
          <a:solidFill>
            <a:srgbClr val="00BCD4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4028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32@3×3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600200"/>
            <a:ext cx="32004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931920" y="1280160"/>
            <a:ext cx="1371600" cy="640080"/>
          </a:xfrm>
          <a:prstGeom prst="rect">
            <a:avLst/>
          </a:prstGeom>
          <a:solidFill>
            <a:srgbClr val="F5F7FA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93192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600200"/>
            <a:ext cx="32004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623560" y="1280160"/>
            <a:ext cx="1371600" cy="640080"/>
          </a:xfrm>
          <a:prstGeom prst="rect">
            <a:avLst/>
          </a:prstGeom>
          <a:solidFill>
            <a:srgbClr val="1B4965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62356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64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600200"/>
            <a:ext cx="320040" cy="0"/>
          </a:xfrm>
          <a:prstGeom prst="line">
            <a:avLst/>
          </a:prstGeom>
          <a:noFill/>
          <a:ln w="25400">
            <a:solidFill>
              <a:srgbClr val="1B496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315200" y="1280160"/>
            <a:ext cx="13716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31520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73152" cy="1645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CLÉS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26517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: Extraction automatique de features spatiales (patterns, proximité, structures)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: Réduction du biais d'optimisme des Q-values via deux réseaux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: TensorBoard (monitoring), ModelCheckpoint (auto-save), EarlyStopping (arrêt intelligent)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</a:t>
            </a: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52168" y="1280160"/>
            <a:ext cx="2743200" cy="2560320"/>
          </a:xfrm>
          <a:prstGeom prst="rect">
            <a:avLst/>
          </a:prstGeom>
          <a:solidFill>
            <a:srgbClr val="F5F7FA"/>
          </a:solidFill>
          <a:ln w="381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48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2248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5048" y="19202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temps réel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 par épisode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&amp; Q-values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Epsilon decay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Temps d'exécution</a:t>
            </a:r>
            <a:endParaRPr lang="en-US" sz="1200" dirty="0"/>
          </a:p>
        </p:txBody>
      </p:sp>
      <p:pic>
        <p:nvPicPr>
          <p:cNvPr id="17" name="Image 16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EA8B8AAA-8855-DDA7-3DA1-AF42DBFCA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17" y="1508760"/>
            <a:ext cx="3452159" cy="19792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D89E3-BAAD-DCD7-DF37-618D2386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B5E18F-BA6C-DD97-BA13-2504FCD6AA32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01E67E-E177-2811-5C0D-D5BFB3B62D75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</a:t>
            </a: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</a:t>
            </a:r>
            <a:endParaRPr lang="en-US" sz="3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EE2DA10-B5FF-3657-07B9-AC7BE2C8AB2D}"/>
              </a:ext>
            </a:extLst>
          </p:cNvPr>
          <p:cNvSpPr/>
          <p:nvPr/>
        </p:nvSpPr>
        <p:spPr>
          <a:xfrm>
            <a:off x="971919" y="1280160"/>
            <a:ext cx="2743200" cy="2560320"/>
          </a:xfrm>
          <a:prstGeom prst="rect">
            <a:avLst/>
          </a:prstGeom>
          <a:solidFill>
            <a:srgbClr val="F5F7FA"/>
          </a:solidFill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99BAAC06-1FF4-E090-BA1A-9B77912F8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799" y="1463040"/>
            <a:ext cx="365760" cy="36576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BBD3BBC-3079-553D-3A3B-F565A39FF409}"/>
              </a:ext>
            </a:extLst>
          </p:cNvPr>
          <p:cNvSpPr/>
          <p:nvPr/>
        </p:nvSpPr>
        <p:spPr>
          <a:xfrm>
            <a:off x="1611999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6AFACC3-5A45-BC11-C583-BC1F9098E513}"/>
              </a:ext>
            </a:extLst>
          </p:cNvPr>
          <p:cNvSpPr/>
          <p:nvPr/>
        </p:nvSpPr>
        <p:spPr>
          <a:xfrm>
            <a:off x="1154799" y="19202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automatique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Meilleur modèle only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 moyen &gt; seuil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 .pth + .json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Reprise possible</a:t>
            </a:r>
            <a:endParaRPr lang="en-US" sz="1200" dirty="0"/>
          </a:p>
        </p:txBody>
      </p:sp>
      <p:pic>
        <p:nvPicPr>
          <p:cNvPr id="17" name="Image 16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5976246C-D299-4A1A-7824-984E97FD1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449" y="1280160"/>
            <a:ext cx="3890039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2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6C6E5-2CC1-1E8E-3064-573C2843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9CE609-4473-F93A-FF4F-BCE41C8B7FC9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39C8BA-DD59-EAE7-B98A-A0F1F5A042FE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</a:t>
            </a: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36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77F818C-2CD1-7D28-4C38-199EF7D51482}"/>
              </a:ext>
            </a:extLst>
          </p:cNvPr>
          <p:cNvSpPr/>
          <p:nvPr/>
        </p:nvSpPr>
        <p:spPr>
          <a:xfrm>
            <a:off x="5822663" y="1291590"/>
            <a:ext cx="2743200" cy="2560320"/>
          </a:xfrm>
          <a:prstGeom prst="rect">
            <a:avLst/>
          </a:prstGeom>
          <a:solidFill>
            <a:srgbClr val="F5F7FA"/>
          </a:solidFill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4CDE4090-8BCD-F7B2-A322-C7D7EFB89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43" y="1474470"/>
            <a:ext cx="365760" cy="36576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890F5C10-9879-C795-5D85-DD827B8E77C7}"/>
              </a:ext>
            </a:extLst>
          </p:cNvPr>
          <p:cNvSpPr/>
          <p:nvPr/>
        </p:nvSpPr>
        <p:spPr>
          <a:xfrm>
            <a:off x="6462743" y="152019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A622B7B-A94C-1D58-075F-F23BB4D3DFA4}"/>
              </a:ext>
            </a:extLst>
          </p:cNvPr>
          <p:cNvSpPr/>
          <p:nvPr/>
        </p:nvSpPr>
        <p:spPr>
          <a:xfrm>
            <a:off x="6005543" y="193167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intelligent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Détection plateau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Patience : 10 épisodes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Évite overfitting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Économie temps calcul</a:t>
            </a:r>
            <a:endParaRPr lang="en-US" sz="1200" dirty="0"/>
          </a:p>
        </p:txBody>
      </p:sp>
      <p:pic>
        <p:nvPicPr>
          <p:cNvPr id="17" name="Image 1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BB36B5A-46F4-5816-BADD-C14556F07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345" y="1474470"/>
            <a:ext cx="3473649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62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F5B93-AC46-EE55-1AE6-23FD2B87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8C0AB2-72E3-C757-CCAF-E625FC069780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F08663-0DA7-A5AA-2964-9BC55A0C41BB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</a:t>
            </a: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DQN</a:t>
            </a:r>
            <a:endParaRPr lang="en-US" sz="3600" dirty="0"/>
          </a:p>
        </p:txBody>
      </p:sp>
      <p:pic>
        <p:nvPicPr>
          <p:cNvPr id="9" name="Image 8" descr="Une image contenant ligne, Tracé, diagramme, texte&#10;&#10;Le contenu généré par l’IA peut être incorrect.">
            <a:extLst>
              <a:ext uri="{FF2B5EF4-FFF2-40B4-BE49-F238E27FC236}">
                <a16:creationId xmlns:a16="http://schemas.microsoft.com/office/drawing/2014/main" id="{330FF346-8714-663C-83A0-112773ED5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99443"/>
            <a:ext cx="8095957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45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FE0-AC6D-25BB-D50A-B7E698B8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8E8D00-153B-87D4-D4EC-E8AB4542AFD4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342F32-D34A-749C-2083-847DCC56E07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</a:t>
            </a: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DQN CNN</a:t>
            </a:r>
            <a:endParaRPr lang="en-US" sz="3600" dirty="0"/>
          </a:p>
        </p:txBody>
      </p:sp>
      <p:pic>
        <p:nvPicPr>
          <p:cNvPr id="5" name="Image 4" descr="Une image contenant texte, Tracé, ligne, diagramme&#10;&#10;Le contenu généré par l’IA peut être incorrect.">
            <a:extLst>
              <a:ext uri="{FF2B5EF4-FFF2-40B4-BE49-F238E27FC236}">
                <a16:creationId xmlns:a16="http://schemas.microsoft.com/office/drawing/2014/main" id="{C3AA40DE-8F6B-2BA3-3C0B-0BE2E10E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0140"/>
            <a:ext cx="804672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89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C149-38A8-23E4-C446-9E179E66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6942B6-5AFF-1DC6-F1EE-D295BAEEAA3D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E7EC34-B349-2807-1449-7B4EBDA805D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d’entrainement</a:t>
            </a: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DQN CNN</a:t>
            </a:r>
            <a:endParaRPr lang="en-US" sz="3600" dirty="0"/>
          </a:p>
        </p:txBody>
      </p:sp>
      <p:pic>
        <p:nvPicPr>
          <p:cNvPr id="6" name="Image 5" descr="Une image contenant texte, diagramm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E257599-0D19-8551-C8C3-A421809F7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1" y="1061884"/>
            <a:ext cx="8561440" cy="369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1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Comparatifs</a:t>
            </a:r>
            <a:endParaRPr lang="en-US" sz="3600" dirty="0"/>
          </a:p>
        </p:txBody>
      </p:sp>
      <p:pic>
        <p:nvPicPr>
          <p:cNvPr id="6" name="Image 5" descr="Une image contenant texte, capture d’écran, diagramme, Tracé">
            <a:extLst>
              <a:ext uri="{FF2B5EF4-FFF2-40B4-BE49-F238E27FC236}">
                <a16:creationId xmlns:a16="http://schemas.microsoft.com/office/drawing/2014/main" id="{6658AF45-FFD7-D4C4-FF42-9BD5F926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6" y="1239480"/>
            <a:ext cx="8760543" cy="33620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la Convergence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188720"/>
          <a:ext cx="7680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73152" cy="8229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CNN converge en ~150 épisodes (vs ~250 pour Flatten) soit 1.7× plus rapide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réduite : ±0.078 vs ±0.115 → stabilité accrue de 32%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stable à 0.95+ atteint plus rapidement avec 100% de succès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5176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efficace sur données visuelles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succès final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professionnel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(seed=42)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73152" cy="32004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65176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simple (8×8)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 (pas GPU)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testé sur envs complexes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non optimisés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73152" cy="3200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265176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922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PISTES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Experience Replay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architecture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hyperparamètres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sur envs complexes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7090" y="3886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1602412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DQN CNN surpasse significativement le DQN simple (+13.3% reward, +12% succès, 1.7× convergence)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convolutions exploitent efficacement la structure spatiale 2D de MiniGrid (7×7×3)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MLOps (callbacks) permet un développement rigoureux et reproductible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encourageants pour étendre à des environnements MiniGrid plus complexes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89357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MERCI DE VOTRE ATTENTION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Affichage à l'écran (16:9)</PresentationFormat>
  <Paragraphs>138</Paragraphs>
  <Slides>17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Apprentissage par Renforcement sur MiniGrid</dc:title>
  <dc:subject>PptxGenJS Presentation</dc:subject>
  <dc:creator>Alex Mensah</dc:creator>
  <cp:lastModifiedBy>Oumou SOW</cp:lastModifiedBy>
  <cp:revision>7</cp:revision>
  <dcterms:created xsi:type="dcterms:W3CDTF">2026-02-13T08:48:56Z</dcterms:created>
  <dcterms:modified xsi:type="dcterms:W3CDTF">2026-02-13T13:25:14Z</dcterms:modified>
</cp:coreProperties>
</file>