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DQN Flatten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Reward</c:v>
                  </c:pt>
                  <c:pt idx="1">
                    <c:v>Succès %</c:v>
                  </c:pt>
                  <c:pt idx="2">
                    <c:v>Convergence</c:v>
                  </c:pt>
                  <c:pt idx="3">
                    <c:v>Steps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0.65</c:v>
                </c:pt>
                <c:pt idx="1">
                  <c:v>58</c:v>
                </c:pt>
                <c:pt idx="2">
                  <c:v>800</c:v>
                </c:pt>
                <c:pt idx="3">
                  <c:v>42.3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DQN CNN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Reward</c:v>
                  </c:pt>
                  <c:pt idx="1">
                    <c:v>Succès %</c:v>
                  </c:pt>
                  <c:pt idx="2">
                    <c:v>Convergence</c:v>
                  </c:pt>
                  <c:pt idx="3">
                    <c:v>Steps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0.87</c:v>
                </c:pt>
                <c:pt idx="1">
                  <c:v>91</c:v>
                </c:pt>
                <c:pt idx="2">
                  <c:v>450</c:v>
                </c:pt>
                <c:pt idx="3">
                  <c:v>28.7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449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95A5A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449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DQN Flatten</c:v>
                </c:pt>
              </c:strCache>
            </c:strRef>
          </c:tx>
          <c:spPr>
            <a:solidFill>
              <a:srgbClr val="E74C3C"/>
            </a:solidFill>
            <a:ln w="38100" cap="flat">
              <a:solidFill>
                <a:srgbClr val="E74C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200</c:v>
                  </c:pt>
                  <c:pt idx="2">
                    <c:v>400</c:v>
                  </c:pt>
                  <c:pt idx="3">
                    <c:v>600</c:v>
                  </c:pt>
                  <c:pt idx="4">
                    <c:v>800</c:v>
                  </c:pt>
                  <c:pt idx="5">
                    <c:v>1000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</c:v>
                </c:pt>
                <c:pt idx="1">
                  <c:v>0.35</c:v>
                </c:pt>
                <c:pt idx="2">
                  <c:v>0.48</c:v>
                </c:pt>
                <c:pt idx="3">
                  <c:v>0.58</c:v>
                </c:pt>
                <c:pt idx="4">
                  <c:v>0.65</c:v>
                </c:pt>
                <c:pt idx="5">
                  <c:v>0.66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DQN CNN</c:v>
                </c:pt>
              </c:strCache>
            </c:strRef>
          </c:tx>
          <c:spPr>
            <a:solidFill>
              <a:srgbClr val="27AE60"/>
            </a:solidFill>
            <a:ln w="38100" cap="flat">
              <a:solidFill>
                <a:srgbClr val="27AE6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7AE60"/>
              </a:solidFill>
              <a:ln w="9525" cap="flat">
                <a:solidFill>
                  <a:srgbClr val="27AE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200</c:v>
                  </c:pt>
                  <c:pt idx="2">
                    <c:v>400</c:v>
                  </c:pt>
                  <c:pt idx="3">
                    <c:v>600</c:v>
                  </c:pt>
                  <c:pt idx="4">
                    <c:v>800</c:v>
                  </c:pt>
                  <c:pt idx="5">
                    <c:v>1000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0.15</c:v>
                </c:pt>
                <c:pt idx="1">
                  <c:v>0.52</c:v>
                </c:pt>
                <c:pt idx="2">
                  <c:v>0.75</c:v>
                </c:pt>
                <c:pt idx="3">
                  <c:v>0.85</c:v>
                </c:pt>
                <c:pt idx="4">
                  <c:v>0.87</c:v>
                </c:pt>
                <c:pt idx="5">
                  <c:v>0.88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449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95A5A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449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0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par Renforcement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MiniGrid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DQN Flatten vs DQN CNN + Callbacks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3383280"/>
            <a:ext cx="274320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Mensah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Février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4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Problématique &amp; Objectifs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18872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un algorithme Deep Q-Network (DQN) dans l'environnement MiniGrid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l'efficacité entre architecture Fully Connected (Flatten) et Convolutional Neural Network (CNN)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des callbacks professionnels (TensorBoard, EarlyStopping, Checkpointing)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la convergence et les performances d'apprentissage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limites et proposer des améliorations possibles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Science - Apprentissage par Renforcement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4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MiniGrid-Empty-8x8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29260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4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de l'environnement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8×8 vide avec agent et objectif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: 7×7×3 (vue partielle)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aplati : 147 dimensions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d'actions : 3 (avancer, tourner gauche/droite)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Récompense : +1 objectif atteint, -0.01 par step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95A5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Représentation ASCII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19202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┌───────┐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. . . │    A : Agent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. A . │    G : Objectif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. . . │    . : Vide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. . G │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Gym - MiniGrid v2.0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4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Architecture Baseline (Fully Connected)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1645920" cy="731520"/>
          </a:xfrm>
          <a:prstGeom prst="rect">
            <a:avLst/>
          </a:prstGeom>
          <a:solidFill>
            <a:srgbClr val="F8F9FA"/>
          </a:solidFill>
          <a:ln w="25400">
            <a:solidFill>
              <a:srgbClr val="2E40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4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E4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E4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017520" y="1737360"/>
            <a:ext cx="365760" cy="0"/>
          </a:xfrm>
          <a:prstGeom prst="line">
            <a:avLst/>
          </a:prstGeom>
          <a:noFill/>
          <a:ln w="25400">
            <a:solidFill>
              <a:srgbClr val="2E405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383280" y="1371600"/>
            <a:ext cx="1645920" cy="731520"/>
          </a:xfrm>
          <a:prstGeom prst="rect">
            <a:avLst/>
          </a:prstGeom>
          <a:solidFill>
            <a:srgbClr val="E67E22"/>
          </a:solidFill>
          <a:ln w="25400">
            <a:solidFill>
              <a:srgbClr val="2E40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94960" y="1737360"/>
            <a:ext cx="365760" cy="0"/>
          </a:xfrm>
          <a:prstGeom prst="line">
            <a:avLst/>
          </a:prstGeom>
          <a:noFill/>
          <a:ln w="25400">
            <a:solidFill>
              <a:srgbClr val="2E405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394960" y="1371600"/>
            <a:ext cx="1645920" cy="731520"/>
          </a:xfrm>
          <a:prstGeom prst="rect">
            <a:avLst/>
          </a:prstGeom>
          <a:solidFill>
            <a:srgbClr val="E67E22"/>
          </a:solidFill>
          <a:ln w="25400">
            <a:solidFill>
              <a:srgbClr val="2E40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06640" y="1737360"/>
            <a:ext cx="365760" cy="0"/>
          </a:xfrm>
          <a:prstGeom prst="line">
            <a:avLst/>
          </a:prstGeom>
          <a:noFill/>
          <a:ln w="25400">
            <a:solidFill>
              <a:srgbClr val="2E405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06640" y="1371600"/>
            <a:ext cx="1645920" cy="731520"/>
          </a:xfrm>
          <a:prstGeom prst="rect">
            <a:avLst/>
          </a:prstGeom>
          <a:solidFill>
            <a:srgbClr val="27AE60"/>
          </a:solidFill>
          <a:ln w="25400">
            <a:solidFill>
              <a:srgbClr val="2E40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Q-values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actions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43200"/>
            <a:ext cx="320040" cy="320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05840" y="2743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identifiées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05840" y="320040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l'information spatiale : le Flatten détruit la structure 2D de la grille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Incapacité à extraire des features visuelles pertinentes (patterns, proximité)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lente et instable sur environnements visuels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4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Architecture Proposée (CNN + Callbacks)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371600" cy="640080"/>
          </a:xfrm>
          <a:prstGeom prst="rect">
            <a:avLst/>
          </a:prstGeom>
          <a:solidFill>
            <a:srgbClr val="E67E22"/>
          </a:solidFill>
          <a:ln w="25400">
            <a:solidFill>
              <a:srgbClr val="2E40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32@3×3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03120" y="1600200"/>
            <a:ext cx="320040" cy="0"/>
          </a:xfrm>
          <a:prstGeom prst="line">
            <a:avLst/>
          </a:prstGeom>
          <a:noFill/>
          <a:ln w="25400">
            <a:solidFill>
              <a:srgbClr val="2E405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423160" y="1280160"/>
            <a:ext cx="1371600" cy="640080"/>
          </a:xfrm>
          <a:prstGeom prst="rect">
            <a:avLst/>
          </a:prstGeom>
          <a:solidFill>
            <a:srgbClr val="E67E22"/>
          </a:solidFill>
          <a:ln w="25400">
            <a:solidFill>
              <a:srgbClr val="2E40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1280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64@3×3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1600200"/>
            <a:ext cx="320040" cy="0"/>
          </a:xfrm>
          <a:prstGeom prst="line">
            <a:avLst/>
          </a:prstGeom>
          <a:noFill/>
          <a:ln w="25400">
            <a:solidFill>
              <a:srgbClr val="2E405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114800" y="1280160"/>
            <a:ext cx="1371600" cy="640080"/>
          </a:xfrm>
          <a:prstGeom prst="rect">
            <a:avLst/>
          </a:prstGeom>
          <a:solidFill>
            <a:srgbClr val="F8F9FA"/>
          </a:solidFill>
          <a:ln w="25400">
            <a:solidFill>
              <a:srgbClr val="2E40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280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06440" y="1600200"/>
            <a:ext cx="320040" cy="0"/>
          </a:xfrm>
          <a:prstGeom prst="line">
            <a:avLst/>
          </a:prstGeom>
          <a:noFill/>
          <a:ln w="25400">
            <a:solidFill>
              <a:srgbClr val="2E405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806440" y="1280160"/>
            <a:ext cx="1371600" cy="640080"/>
          </a:xfrm>
          <a:prstGeom prst="rect">
            <a:avLst/>
          </a:prstGeom>
          <a:solidFill>
            <a:srgbClr val="2E4053"/>
          </a:solidFill>
          <a:ln w="25400">
            <a:solidFill>
              <a:srgbClr val="2E40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280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0" y="1600200"/>
            <a:ext cx="320040" cy="0"/>
          </a:xfrm>
          <a:prstGeom prst="line">
            <a:avLst/>
          </a:prstGeom>
          <a:noFill/>
          <a:ln w="25400">
            <a:solidFill>
              <a:srgbClr val="2E405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98080" y="1280160"/>
            <a:ext cx="1371600" cy="640080"/>
          </a:xfrm>
          <a:prstGeom prst="rect">
            <a:avLst/>
          </a:prstGeom>
          <a:solidFill>
            <a:srgbClr val="27AE60"/>
          </a:solidFill>
          <a:ln w="25400">
            <a:solidFill>
              <a:srgbClr val="2E40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1280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Q-values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77440"/>
            <a:ext cx="320040" cy="320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05840" y="2377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clés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05840" y="283464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automatique de features spatiales via convolutions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DQN pour réduire le biais d'optimisme des Q-values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Replay Buffer (10,000 transitions) pour décorréler les expériences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Network avec soft update (τ=0.005) pour stabiliser l'apprentissage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4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Callbacks Professionnels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743200" cy="2560320"/>
          </a:xfrm>
          <a:prstGeom prst="rect">
            <a:avLst/>
          </a:prstGeom>
          <a:solidFill>
            <a:srgbClr val="F8F9FA"/>
          </a:solidFill>
          <a:ln w="38100">
            <a:solidFill>
              <a:srgbClr val="E67E2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463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TensorBoard Logging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20116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en temps réel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reward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&amp; Q-values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 decay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83280" y="1280160"/>
            <a:ext cx="2743200" cy="2560320"/>
          </a:xfrm>
          <a:prstGeom prst="rect">
            <a:avLst/>
          </a:prstGeom>
          <a:solidFill>
            <a:srgbClr val="F8F9FA"/>
          </a:solidFill>
          <a:ln w="38100">
            <a:solidFill>
              <a:srgbClr val="E67E2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4630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023360" y="1463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Checkpoint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566160" y="20116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meilleur modèle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: reward moyen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: .weights.h5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Reprise possible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309360" y="1280160"/>
            <a:ext cx="2743200" cy="2560320"/>
          </a:xfrm>
          <a:prstGeom prst="rect">
            <a:avLst/>
          </a:prstGeom>
          <a:solidFill>
            <a:srgbClr val="F8F9FA"/>
          </a:solidFill>
          <a:ln w="38100">
            <a:solidFill>
              <a:srgbClr val="E67E2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46304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49440" y="1463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492240" y="20116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plateau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: 50 épisodes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 overfitting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temps calcul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MLOps : Monitoring, Versioning, Reproductibilité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4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Résultats Comparatifs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011680"/>
        </p:xfrm>
        <a:graphic>
          <a:graphicData uri="http://schemas.openxmlformats.org/drawingml/2006/table">
            <a:tbl>
              <a:tblPr/>
              <a:tblGrid>
                <a:gridCol w="3200400"/>
                <a:gridCol w="2514600"/>
                <a:gridCol w="25146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DQN Flatten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DQN CNN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 moyen final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 ± 0.15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 ± 0.08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succès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Convergence (épisodes)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 moyen par épisode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Temps d'entraînement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1371600" y="3383280"/>
          <a:ext cx="640080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4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Analyse de la Convergence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82296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4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clés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3931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DQN CNN converge 1.8× plus rapidement que le Flatten (450 vs 800 épisodes)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significativement réduite grâce aux features spatiales (±0.08 vs ±0.15)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atteint plus tôt avec performance supérieure (+33% reward final)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4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Discussion &amp; Limites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3200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Forces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CNN adaptée aux données visuelles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DQN : stabilité accrue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: workflow pro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 &gt; baseline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743200" cy="3200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66160" y="182880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simple (8×8 vide)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généralisation testée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calcul +39%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Hyperparamètres non optimisés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188720"/>
            <a:ext cx="2743200" cy="3200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Pistes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182880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Experience Replay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DQN architecture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hyperparams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sur envs complexes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40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Conclusion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280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2024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DQN CNN surpasse significativement le Flatten (+33% reward, +57% succès)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convolutions exploitent efficacement la structure spatiale de MiniGrid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L'infrastructure MLOps (callbacks) permet un développement rigoureux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encourageants pour étendre à des environnements plus complexes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657600"/>
            <a:ext cx="457200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"L'apprentissage par renforcement profond combine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meilleur de l'apprentissage automatique et de la planification"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Apprentissage par Renforcement sur MiniGrid</dc:title>
  <dc:subject>PptxGenJS Presentation</dc:subject>
  <dc:creator>Alex Mensah</dc:creator>
  <cp:lastModifiedBy>Alex Mensah</cp:lastModifiedBy>
  <cp:revision>1</cp:revision>
  <dcterms:created xsi:type="dcterms:W3CDTF">2026-02-12T14:36:47Z</dcterms:created>
  <dcterms:modified xsi:type="dcterms:W3CDTF">2026-02-12T14:36:47Z</dcterms:modified>
</cp:coreProperties>
</file>